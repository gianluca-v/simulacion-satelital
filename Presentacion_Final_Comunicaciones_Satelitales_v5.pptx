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4" r:id="rId2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5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 rot="10800000">
            <a:off x="8534095" y="54864"/>
            <a:ext cx="3657600" cy="3657600"/>
          </a:xfrm>
          <a:prstGeom prst="rtTriangle">
            <a:avLst/>
          </a:prstGeom>
          <a:solidFill>
            <a:srgbClr val="00A8E8">
              <a:lumMod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rPr dirty="0"/>
              <a:t>FACTORES ATMOSFÉRICOS EN LA</a:t>
            </a:r>
            <a:br>
              <a:rPr dirty="0"/>
            </a:br>
            <a:r>
              <a:rPr dirty="0"/>
              <a:t>DEGRADACIÓN DE ENLACES SATELITALES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Calibri Light"/>
              </a:defRPr>
            </a:pPr>
            <a:r>
              <a:t>Modelado, Simulación y Validación Experimental en Bandas C a 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B0C4DE"/>
                </a:solidFill>
                <a:latin typeface="Calibri"/>
              </a:defRPr>
            </a:pPr>
            <a:r>
              <a:t>Trabajo Final — Información y Comunicaciones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8899AA"/>
                </a:solidFill>
                <a:latin typeface="Calibri"/>
              </a:defRPr>
            </a:pPr>
            <a:r>
              <a:t>Carrera: Ingeniería Informática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8899AA"/>
                </a:solidFill>
                <a:latin typeface="Calibri"/>
              </a:defRPr>
            </a:pPr>
            <a:r>
              <a:t>Universidad Nacional Arturo Jauretche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Simulación Web Interactiva + Investigación Académica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7080"/>
                </a:solidFill>
                <a:latin typeface="Calibri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1.  Objetivos del trabajo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2.  La atmósfera terrestre y su impacto en las telecomunicaciones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3.  Mecanismos de atenuación atmosférica (gases, nubes, lluvia)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4.  Investigación de referencia: Oros Molina (2010) — Cochabamba, Bolivia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5.  Presupuesto de enlace satelital (Link Budget)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6.  Modelos ITU-R implementados en la simulación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7.  Simulación web interactiva: arquitectura y tecnologías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8.  Configuraciones satelitales preestablecidas (10 presets)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9.  Condiciones climáticas simuladas (7 escenarios)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10. Artículo complementario: Kalaivaanan et al. (2020) — Banda Ka en trópicos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11. Relación con los temas vistos en la materia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12. Aplicaciones reales: Starlink, GPS, OneWeb, Intelsat, ViaSat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13. Conclusiones y trabajo futuro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PRESENTACIÓN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Objetivo general y específicos del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54864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Analizar la influencia de los factores atmosféricos (absorción de gases, atenuación por nubes y por lluvia) sobre la calidad de enlaces satelitales en bandas L, C, X, Ku y Ka, empleando modelos ITU-R.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54864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OBJETIVOS ESPECÍFICOS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Revisar la investigación de Oros Molina (2010) sobre atenuación atmosférica en banda C (4 GHz) en Cochabamba, Bolivia.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Implementar una simulación web interactiva de comunicaciones satelitales que permita modificar condiciones climáticas y parámetros del enlace.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Definir configuraciones satelitales preestablecidas con frecuencias y potencias reales (GPS, VSAT, DBS, HTS).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Validar que los resultados de la simulación sean consistentes con los datos experimentales de la literatura científica.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Analizar las diferencias de comportamiento entre bandas bajas (L, C) y altas (Ku, Ka) frente a condiciones adversas.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Objetivo general y específicos del trabajo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 ATMÓSFERA TERRESTRE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Capas atmosféricas y su influencia en las telecomunicaciones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777240"/>
          </a:xfrm>
          <a:prstGeom prst="rect">
            <a:avLst/>
          </a:prstGeom>
          <a:solidFill>
            <a:srgbClr val="4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5060"/>
                </a:solidFill>
                <a:latin typeface="Calibri"/>
              </a:defRPr>
            </a:pPr>
            <a:r>
              <a:t>EXOSFERA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&gt;700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Gases muy tenues. Sin efecto en señales de RF.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54864" cy="777240"/>
          </a:xfrm>
          <a:prstGeom prst="rect">
            <a:avLst/>
          </a:prstGeom>
          <a:solidFill>
            <a:srgbClr val="5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6070"/>
                </a:solidFill>
                <a:latin typeface="Calibri"/>
              </a:defRPr>
            </a:pPr>
            <a:r>
              <a:t>TERMOSFERA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80–700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514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Absorbe rayos X y UV. Ionización afecta señales de muy baja frecuencia.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4864" cy="777240"/>
          </a:xfrm>
          <a:prstGeom prst="rect">
            <a:avLst/>
          </a:prstGeom>
          <a:solidFill>
            <a:srgbClr val="6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7080"/>
                </a:solidFill>
                <a:latin typeface="Calibri"/>
              </a:defRPr>
            </a:pPr>
            <a:r>
              <a:t>MESOSFERA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50–80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Meteoros se desintegran. Baja densidad. Efecto despreciable.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54864" cy="77724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8090"/>
                </a:solidFill>
                <a:latin typeface="Calibri"/>
              </a:defRPr>
            </a:pPr>
            <a:r>
              <a:t>ESTRATOSFERA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10–50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348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Capa de ozono. Aire seco y estable. Mínima atenuación.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54864" cy="7772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4D"/>
                </a:solidFill>
                <a:latin typeface="Calibri"/>
              </a:defRPr>
            </a:pPr>
            <a:r>
              <a:t>TROPOSFERA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0–10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3949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Contiene el 75% de la masa atmosférica. Fenómenos meteorológicos: lluvia, nubes, niebla, nieve.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6272873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272873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rPr dirty="0"/>
              <a:t>CONCLUSIÓN: La </a:t>
            </a:r>
            <a:r>
              <a:rPr dirty="0" err="1"/>
              <a:t>troposfera</a:t>
            </a:r>
            <a:r>
              <a:rPr dirty="0"/>
              <a:t> es la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capa</a:t>
            </a:r>
            <a:r>
              <a:rPr dirty="0"/>
              <a:t> que </a:t>
            </a:r>
            <a:r>
              <a:rPr dirty="0" err="1"/>
              <a:t>afecta</a:t>
            </a:r>
            <a:r>
              <a:rPr dirty="0"/>
              <a:t> </a:t>
            </a:r>
            <a:r>
              <a:rPr dirty="0" err="1"/>
              <a:t>significativamente</a:t>
            </a:r>
            <a:r>
              <a:rPr dirty="0"/>
              <a:t> las </a:t>
            </a:r>
            <a:r>
              <a:rPr dirty="0" err="1"/>
              <a:t>comunicaciones</a:t>
            </a:r>
            <a:r>
              <a:rPr dirty="0"/>
              <a:t> </a:t>
            </a:r>
            <a:r>
              <a:rPr dirty="0" err="1"/>
              <a:t>satelitales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bandas</a:t>
            </a:r>
            <a:r>
              <a:rPr dirty="0"/>
              <a:t> de </a:t>
            </a:r>
            <a:r>
              <a:rPr dirty="0" err="1"/>
              <a:t>microondas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MECANISMOS DE ATENUACIÓN ATMOSFÉRICA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Los tres fenómenos principales según la ITU-R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8E8"/>
                </a:solidFill>
                <a:latin typeface="Calibri"/>
              </a:defRPr>
            </a:pPr>
            <a:r>
              <a:t>ABSORCIÓN POR GASES</a:t>
            </a:r>
            <a:br/>
            <a:r>
              <a:t>ITU-R P.676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El oxígeno (O₂) y el vapor de agua (H₂O) absorben energía electromagnética. Picos de absorción: O₂ en 60 GHz y 118 GHz; H₂O en 22, 183 y 325 GHz. A bajas frecuencias (L, C) el efecto es mínimo; en Ka se vuelve significativo.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ATENUACIÓN POR NUBES</a:t>
            </a:r>
            <a:br/>
            <a:r>
              <a:t>ITU-R P.840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Gotas de agua líquida suspendidas dispersan y absorben la señal. La severidad depende del contenido de agua líquida (g/m³). En banda C &lt; 0.2 dB; en banda Ka puede superar 1 dB.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D4D"/>
                </a:solidFill>
                <a:latin typeface="Calibri"/>
              </a:defRPr>
            </a:pPr>
            <a:r>
              <a:t>ATENUACIÓN POR LLUVIA</a:t>
            </a:r>
            <a:br/>
            <a:r>
              <a:t>ITU-R P.838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rPr dirty="0"/>
              <a:t>El </a:t>
            </a:r>
            <a:r>
              <a:rPr dirty="0" err="1"/>
              <a:t>fenómeno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perjudicial</a:t>
            </a:r>
            <a:r>
              <a:rPr dirty="0"/>
              <a:t>. Ley </a:t>
            </a:r>
            <a:r>
              <a:rPr dirty="0" err="1"/>
              <a:t>potencial</a:t>
            </a:r>
            <a:r>
              <a:rPr dirty="0"/>
              <a:t>: γ = k · R^α. La </a:t>
            </a:r>
            <a:r>
              <a:rPr dirty="0" err="1"/>
              <a:t>atenuación</a:t>
            </a:r>
            <a:r>
              <a:rPr dirty="0"/>
              <a:t> </a:t>
            </a:r>
            <a:r>
              <a:rPr dirty="0" err="1"/>
              <a:t>crece</a:t>
            </a:r>
            <a:r>
              <a:rPr dirty="0"/>
              <a:t> </a:t>
            </a:r>
            <a:r>
              <a:rPr dirty="0" err="1"/>
              <a:t>drásticamente</a:t>
            </a:r>
            <a:r>
              <a:rPr dirty="0"/>
              <a:t> con la </a:t>
            </a:r>
            <a:r>
              <a:rPr dirty="0" err="1"/>
              <a:t>frecuencia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las </a:t>
            </a:r>
            <a:r>
              <a:rPr dirty="0" err="1"/>
              <a:t>gotas</a:t>
            </a:r>
            <a:r>
              <a:rPr dirty="0"/>
              <a:t> </a:t>
            </a:r>
            <a:r>
              <a:rPr dirty="0" err="1"/>
              <a:t>dispersan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tamaño</a:t>
            </a:r>
            <a:r>
              <a:rPr dirty="0"/>
              <a:t> ≈ 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FENÓMENOS ADICIONALES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Capa fundente (melting layer): atenuación donde nieve/hielo se derriten en gotas de lluvia a 0 °C (~500 m de espesor).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Centelleos troposféricos: fluctuaciones rápidas por cambios en el índice de refracción de la troposfera.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Desvanecimiento por ángulo bajo de elevación: significativo cuando el ángulo &lt; 5°.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INVESTIGACIÓN DE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Oros Molina (2010) — Estudio de factores atmosféricos en Cochabamba,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457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DATOS DEL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Autora: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83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Rossio Nathaly Oros Molina — Universidad Católica Boliviana San Pablo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Enlace: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305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COMTECO — Satélite BRASILSAT B3 (banda C, 4 GHz bajada)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Ubicación: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7802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Cochabamba, Bolivia — 17.38° S, 66.17° O, 2587 m.s.n.m.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254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Antena: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82549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7 m de diámetro, ángulo de elevación 61.06°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72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Periodo: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729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2003–2007 — Datos meteorológicos de estación Sarco del SENAMHI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204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Método: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2043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6 modelos de atenuación implementados en MATLAB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00"/>
                </a:solidFill>
                <a:latin typeface="Calibri"/>
              </a:defRPr>
            </a:pPr>
            <a:r>
              <a:t>RESULTADOS PRINCIPALES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4389120"/>
          <a:ext cx="640080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8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Fenómeno atmosférico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Atenuación máxima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Periodo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Capa fundente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0.6548 dB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 / Otoño 2006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Nubes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0.1814 dB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Lluvia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0.0797 dB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 / Otoño 2006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Gases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0.0470 dB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Centelleos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0.0428 dB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/ Otoño 2003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TOTAL ATMOSFÉRICA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2.01% degradación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498079" y="3794759"/>
            <a:ext cx="3931920" cy="2606041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938134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CONCLUSIÓN CLAVE:</a:t>
            </a:r>
            <a:br>
              <a:rPr dirty="0"/>
            </a:br>
            <a:br>
              <a:rPr dirty="0"/>
            </a:br>
            <a:r>
              <a:rPr dirty="0"/>
              <a:t>En </a:t>
            </a:r>
            <a:r>
              <a:rPr dirty="0" err="1"/>
              <a:t>banda</a:t>
            </a:r>
            <a:r>
              <a:rPr dirty="0"/>
              <a:t> C (4 GHz), </a:t>
            </a:r>
            <a:r>
              <a:rPr dirty="0" err="1"/>
              <a:t>en</a:t>
            </a:r>
            <a:r>
              <a:rPr dirty="0"/>
              <a:t> Cochabamba,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fenómenos</a:t>
            </a:r>
            <a:r>
              <a:rPr dirty="0"/>
              <a:t> </a:t>
            </a:r>
            <a:r>
              <a:rPr dirty="0" err="1"/>
              <a:t>atmosféricos</a:t>
            </a:r>
            <a:r>
              <a:rPr dirty="0"/>
              <a:t> </a:t>
            </a:r>
            <a:r>
              <a:rPr dirty="0" err="1"/>
              <a:t>producen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degradación</a:t>
            </a:r>
            <a:r>
              <a:rPr dirty="0"/>
              <a:t> inferior al 2%.</a:t>
            </a:r>
            <a:br>
              <a:rPr dirty="0"/>
            </a:br>
            <a:br>
              <a:rPr dirty="0"/>
            </a:br>
            <a:r>
              <a:rPr dirty="0"/>
              <a:t>→ La </a:t>
            </a:r>
            <a:r>
              <a:rPr dirty="0" err="1"/>
              <a:t>banda</a:t>
            </a:r>
            <a:r>
              <a:rPr dirty="0"/>
              <a:t> C es robusta para </a:t>
            </a:r>
            <a:r>
              <a:rPr dirty="0" err="1"/>
              <a:t>comunicaciones</a:t>
            </a:r>
            <a:r>
              <a:rPr dirty="0"/>
              <a:t> </a:t>
            </a:r>
            <a:r>
              <a:rPr dirty="0" err="1"/>
              <a:t>satelitales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adversas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→ Pero a </a:t>
            </a:r>
            <a:r>
              <a:rPr dirty="0" err="1"/>
              <a:t>frecuencias</a:t>
            </a:r>
            <a:r>
              <a:rPr dirty="0"/>
              <a:t> </a:t>
            </a:r>
            <a:r>
              <a:rPr dirty="0" err="1"/>
              <a:t>superiores</a:t>
            </a:r>
            <a:r>
              <a:rPr dirty="0"/>
              <a:t> (Ku, Ka)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serían</a:t>
            </a:r>
            <a:r>
              <a:rPr dirty="0"/>
              <a:t> </a:t>
            </a:r>
            <a:r>
              <a:rPr dirty="0" err="1"/>
              <a:t>mucho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severos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PRESUPUESTO DE ENLACE SATELITAL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Link Budget — El balance de potencia entre transmisor y receptor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4114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ECUACIÓN FUNDAMENTAL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Prx = Ptx + Gtx + Grx − Atotal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Atenuación total: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Atotal = FSPL + Agases + Alluvia + Anubes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Espacio libre (FSPL):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08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FSPL = 20·log₁₀(d) + 20·log₁₀(f) + 20·log₁₀(4π/c)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Relación señal/ruido: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SNR = Prx − N    |    N = 10·log₁₀(k·T·B) + 30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Energía por bit: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023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Eb/N₀ = C/N₀ − 10·log₁₀(Rb)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Margen de enlace: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480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Margen = Eb/N₀ − Eb/N₀umbral    (umbral QPSK: 8.5 dB)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Shannon-Hartley: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937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C = B · log₂(1 + SNR)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VAR. CLAVE DEL SISTEMA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k = 1.38×10⁻²³ J/K (Boltzmann)  |  Tsis = Tref·(10^(NF/10)−1) + Tamb + 273.15  |  Rb = tasa de bits  |  B = ancho de banda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MODELOS DE ATENUACIÓN IMPLEMENTADOS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Versiones simplificadas pero físicamente fundamentadas de las recomendaciones ITU-R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8E8"/>
                </a:solidFill>
                <a:latin typeface="Calibri"/>
              </a:defRPr>
            </a:pPr>
            <a:r>
              <a:t>Atenuación por Gases</a:t>
            </a:r>
            <a:br/>
            <a:r>
              <a:t>ITU-R P.676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Suma de atenuación por O₂ (Ao) y vapor de agua (Aw).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Ao crece linealmente por tramos con la frecuencia.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Aw ∝ ρ · (f/20)² — ρ = densidad de vapor (g/m³).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El vapor de agua es el principal contribuyente variable — validado por Oros (2010).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33832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Atenuación por Lluvia</a:t>
            </a:r>
            <a:br/>
            <a:r>
              <a:t>ITU-R P.838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Ley potencial: γ = k · R^α (R en mm/h).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Tabla de coeficientes (k, α) interpolados para {1, 10, 30, 50, 100} GHz.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Longitud efectiva del trayecto depende del ángulo de elevación (máx. 10 km).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&lt;0.08 dB a 4 GHz; &gt;70 dB a 30 GHz con tormenta.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3832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Atenuación por Nubes</a:t>
            </a:r>
            <a:br/>
            <a:r>
              <a:t>ITU-R P.840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659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Coeficiente Kl con forma gaussiana centrada en 20 GHz.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Modulado por contenido de agua líquida (L, en g/m³).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Tormenta con L = 3.0 g/m³ a 30 GHz → ~0.6 dB.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Banda C con nubes densas → &lt;0.2 dB.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El clima afecta el enlace por DOS vías: aumentando la atenuación atmosférica Y elevando la temperatura de ruido del sistema (Tsis).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SIMULACIÓN WEB INTERACTIVA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Tecnologías, arquitectura y funcionalidades del simulador 3D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457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STACK TECNOLÓGICO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React 19 + TypeScript  —  Interfaz de usuario reactiva y tipada.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Three.js + React Three Fiber + Drei  —  Renderizado 3D de Tierra, satélites, estaciones y atmósfera.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Zustand  —  Manejo de estado global para simulación y UI (simulationStore, uiStore).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Vite  —  Build tool ultrarrápido para desarrollo y producción.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95 tests automatizados  —  Suite de pruebas que validan consistencia matemática y física.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COMPONENTES PRINCIPALES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Motor de física orbital  —  Cálculo de posiciones Keplerianas (LEO/MEO/GEO).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Motor de atenuación atmosférica  —  Gases, lluvia y nubes (ITU-R).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Motor de comunicación  —  Envío/recepción de mensajes con propagación realista.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Link Budget en tiempo real  —  SNR, Eb/N₀, margen, capacidad del canal.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Visualización 3D  —  Tierra texturizada, estrellas, nubes, lluvia, nieve, enlaces.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371600"/>
            <a:ext cx="4114800" cy="457200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INTERFAZ DE USUARIO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Toolbar: selección de presets, clima, velocidad de simulación.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WeatherControl: 7 condiciones climáticas configurables.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TelemetryPanel: datos de telemetría en tiempo real.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MessageComposer: envío de mensajes tierra ↔ satélite.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MessageLog: registro de mensajes enviados/recibidos.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Link Budget: FSPL, SNR, Eb/N₀, margen, C/No.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Legend: leyenda de elementos en la escena 3D.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VISTA 3D INTERACTIVA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Cámara orbital con zoom, pan y rotación.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Tierra con textura realista y atmósfera.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Partículas de clima (lluvia, nieve).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Enlace de comunicación visual entre nodos.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CONFIGURACIONES SATELITALES PREESTABLECIDAS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10 presets con frecuencias y potencias reales — organizados por tipo de órbita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8E8"/>
                </a:solidFill>
                <a:latin typeface="Calibri"/>
              </a:defRPr>
            </a:pPr>
            <a:r>
              <a:t>LEO — Órbita Baja (200-2000 km)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3474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Preset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Frec.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Pot. TX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C-band 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X-band 8.2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8.2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20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Ku-band 12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Ka-band 30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30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480560" y="1371600"/>
            <a:ext cx="54864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MEO — Órbita Media (2000-35786 km)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80560" y="1828800"/>
          <a:ext cx="3474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Preset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Frec.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Pot. TX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L-band 1.575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1.575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C-band 5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Ku-band 14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29600" y="1371600"/>
            <a:ext cx="54864" cy="3657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GEO — Geoestacionaria (35786 km)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0" y="1828800"/>
          <a:ext cx="3474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Preset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Frec.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Pot. TX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C-band 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36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Ku-band 12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36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Ka-band 30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30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100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384048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100"/>
                </a:solidFill>
                <a:latin typeface="Calibri"/>
              </a:defRPr>
            </a:pPr>
            <a:r>
              <a:t>VALIDACIÓN EXPERIMENTAL DE LOS PRESETS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C-band 4 GHz LEO/GEO: Validado por Oros (2010) — COMTECO/BRASILSAT B3. Margen &gt;20 dB en todas las condiciones.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Ka-band 30 GHz: Falla correctamente en tormenta (&gt;70 dB de atenuación por lluvia). Consistente con Kalaivaanan et al. (2020).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L-band 1.575 GHz (GPS): Virtualmente inmune al clima. Atenuación &lt;0.05 dB en todos los escenarios.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FF4D4D"/>
                </a:solidFill>
                <a:latin typeface="Calibri"/>
              </a:defRPr>
            </a:pPr>
            <a:r>
              <a:t>• No se permiten valores libres: solo frecuencias y potencias con comportamiento experimentalmente validado.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CONDICIONES CLIMÁTICAS SIMULADAS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7 escenarios meteorológicos con parámetros basados en Oros (2010) y literatura ITU-R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Condición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Lluvia (mm/h)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Vapor (g/m³)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Nubes (g/m³)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Temp (°C)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Efecto esperado en banda Ka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☀  Despejado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7.5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Sin atenuación. Señal óptima.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🌦  Lluvia ligera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Atenuación leve. Margen amplio.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🌧  Lluvia moderada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12.5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Degradación notable. Margen reducido.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🌧  Lluvia intensa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Atenuación severa. Posible interrupción.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⛈  Tormenta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&gt;70 dB de atenuación. Enlace caído.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🌫  Niebla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Atenuación por nubes. Sin lluvia.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❄  Nieve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−2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Moderada. Similar a lluvia ligera.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100"/>
                </a:solidFill>
                <a:latin typeface="Calibri"/>
              </a:defRPr>
            </a:pPr>
            <a:r>
              <a:t>IMPACTO POR BANDA DE FRECUENCIA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00E676"/>
                </a:solidFill>
                <a:latin typeface="Calibri"/>
              </a:defRPr>
            </a:pPr>
            <a:r>
              <a:t>Banda L (1-2 GHz):  Virtualmente inmune. Atenuación &lt;0.05 dB en tormenta. Ideal para GPS/GNSS.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A8E8"/>
                </a:solidFill>
                <a:latin typeface="Calibri"/>
              </a:defRPr>
            </a:pPr>
            <a:r>
              <a:t>Banda C (4-8 GHz):  Robusta. Degradación &lt;2% incluso en tormenta. Preferida para broadcast en regiones tropicales.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D2FF"/>
                </a:solidFill>
                <a:latin typeface="Calibri"/>
              </a:defRPr>
            </a:pPr>
            <a:r>
              <a:t>Banda Ku (12-18 GHz):  Vulnerable. Margen reducido en lluvia moderada. Requiere 3-5 dB extra. Usada en Starlink/OneWeb.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4D4D"/>
                </a:solidFill>
                <a:latin typeface="Calibri"/>
              </a:defRPr>
            </a:pPr>
            <a:r>
              <a:t>Banda Ka (27-40 GHz):  Muy vulnerable. &gt;70 dB de atenuación en tormenta → interrupción total. Requiere 15-20 dB de margen.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ARTÍCULO CIENTÍFICO COMPLEMENTARIO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Kalaivaanan et al. (2020) — Banda Ka en regiones tropicales (Malasia)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REFERENCIA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Kalaivaanan, P. M. et al. (2020). Evaluation of ka-band rain attenuation for satellite communication in tropical regions through a measurement of multiple antenna sizes. IEEE Access, 8, 123776-123787.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RESUMEN DEL ESTUDIO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Investigación de atenuación por lluvia en banda Ka (26-40 GHz) en Malasia (clima tropical con precipitaciones intensas frecuentes).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Mediciones experimentales con antenas de 0.6 m, 0.77 m y 1.2 m.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Se compararon 3 modelos: ITU-R P.618 estándar, ITU-R modificado y DAH.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4D4D"/>
                </a:solidFill>
                <a:latin typeface="Calibri"/>
              </a:defRPr>
            </a:pPr>
            <a:r>
              <a:t>• El modelo ITU-R estándar SUBESTIMA la atenuación en condiciones tropicales.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• El modelo ITU-R modificado presenta el MEJOR AJUSTE a las mediciones.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Se registraron atenuaciones &gt;15 dB durante tormentas tropicales.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Conclusión: se requieren márgenes de lluvia de 15-20 dB para garantizar disponibilidad &gt;99.5%.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554480"/>
            <a:ext cx="484632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CONTRASTE OROS vs KALAIVAANAN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300" b="1">
                <a:solidFill>
                  <a:srgbClr val="00A8E8"/>
                </a:solidFill>
                <a:latin typeface="Calibri"/>
              </a:defRPr>
            </a:pPr>
            <a:r>
              <a:t>Oros (2010) — Cochabamba, Bolivia: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Banda C (4 GHz)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Clima templado de altura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  Atenuación total &lt; 2%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  Banda C = robusta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300" b="1">
                <a:solidFill>
                  <a:srgbClr val="FF4D4D"/>
                </a:solidFill>
                <a:latin typeface="Calibri"/>
              </a:defRPr>
            </a:pPr>
            <a:r>
              <a:t>Kalaivaanan (2020) — Malasia: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Banda Ka (26-40 GHz)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Clima tropical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4D4D"/>
                </a:solidFill>
                <a:latin typeface="Calibri"/>
              </a:defRPr>
            </a:pPr>
            <a:r>
              <a:t>  Atenuación &gt; 15 dB en tormenta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4D4D"/>
                </a:solidFill>
                <a:latin typeface="Calibri"/>
              </a:defRPr>
            </a:pPr>
            <a:r>
              <a:t>  Banda Ka = muy vulnerable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200" b="1">
                <a:solidFill>
                  <a:srgbClr val="FFD100"/>
                </a:solidFill>
                <a:latin typeface="Calibri"/>
              </a:defRPr>
            </a:pPr>
            <a:r>
              <a:t>➤ Ambos resultados son correctamente reproducidos por nuestra simulación.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RELACIÓN CON LOS TEMAS DE LA MATERIA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Información y Comunicaciones — Ingeniería Informática — Universidad Nacional Arturo Jauretche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3832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E8"/>
                </a:solidFill>
                <a:latin typeface="Calibri"/>
              </a:defRPr>
            </a:pPr>
            <a:r>
              <a:t>PROPAGACIÓN DE ONDAS</a:t>
            </a:r>
            <a:br/>
            <a:r>
              <a:t>ELECTROMAGNÉTICAS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ecuación de Friis para espacio libre (FSPL) es la base del presupuesto de enlace. Se modela la atenuación por distancia y frecuencia y se incorporan las pérdidas atmosféricas.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33832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MODULACIÓN DIGITAL</a:t>
            </a:r>
            <a:br/>
            <a:r>
              <a:t>Y UMBRAL Eb/N₀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Umbral Eb/N₀ = 8.5 dB para QPSK con BER ≈ 10⁻⁵, estándar en comunicaciones satelitales. El margen de enlace determina la viabilidad de la comunicación.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25880"/>
            <a:ext cx="33832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RUIDO Y FIGURA</a:t>
            </a:r>
            <a:br/>
            <a:r>
              <a:t>DE RUIDO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Temperatura equivalente de ruido (Tsis) usando NF = 3 dB y temperatura de antena. El clima eleva Tsis, degradando adicionalmente el enlace.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338328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100"/>
                </a:solidFill>
                <a:latin typeface="Calibri"/>
              </a:defRPr>
            </a:pPr>
            <a:r>
              <a:t>TEOREMA DE</a:t>
            </a:r>
            <a:br/>
            <a:r>
              <a:t>SHANNON-HARTLEY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 = B·log₂(1+SNR) determina la capacidad máxima del canal. Implementado en la simulación como indicador de throughput máximo.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931920"/>
            <a:ext cx="33832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BANDAS DE</a:t>
            </a:r>
            <a:br/>
            <a:r>
              <a:t>FRECUENCIA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4348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Caracterización completa de bandas L, S, C, X, Ku, K, Ka y V con aplicaciones típicas y limitaciones atmosféricas. Mapeo a servicios reales.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931920"/>
            <a:ext cx="33832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E8"/>
                </a:solidFill>
                <a:latin typeface="Calibri"/>
              </a:defRPr>
            </a:pPr>
            <a:r>
              <a:t>BALANCE DE</a:t>
            </a:r>
            <a:br/>
            <a:r>
              <a:t>ENLACE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4348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Metodología integral: ganancias, pérdidas (FSPL + atmosféricas), márgenes, SNR, Eb/N₀, C/N₀, Doppler shift, propagation delay y criterios de viabilidad.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APLICACIONES REALES EN LA INDUSTRIA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Casos de uso de cada banda de frecuencia en sistemas satelitales operativos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4864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8E8"/>
                </a:solidFill>
                <a:latin typeface="Calibri"/>
              </a:defRPr>
            </a:pPr>
            <a:r>
              <a:t>STARLINK (SpaceX)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LEO · Ku/Ka · 12 GHz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733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Constelación de miles de satélites. Sufre degradación en tormentas pero compensa con densidad y beamforming. Downlink en Ku-band.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39"/>
            <a:ext cx="54864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77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GPS (EE.UU.)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77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MEO · L-band · 1.575 GHz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Virtualmente inmune al clima. Atenuación atmosférica &lt;0.01 dB/km. La elección de banda L garantiza disponibilidad 24/7.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54864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ONEWEB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LEO · Ku-band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76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Similar a Starlink en vulnerabilidad climática. Requiere margen de enlace de 3-5 dB para compensar lluvia moderada.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59"/>
            <a:ext cx="54864" cy="8686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100"/>
                </a:solidFill>
                <a:latin typeface="Calibri"/>
              </a:defRPr>
            </a:pPr>
            <a:r>
              <a:t>SES / INTELSAT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4805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GEO · C-band · 4 GHz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2803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Broadcasting en regiones tropicales. Banda C elegida por su alta resiliencia a la lluvia — validado por Oros (2010).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32120"/>
            <a:ext cx="54864" cy="8686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D"/>
                </a:solidFill>
                <a:latin typeface="Calibri"/>
              </a:defRPr>
            </a:pPr>
            <a:r>
              <a:t>VIASAT-3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GEO · Ka-band · 30 GHz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79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1 Tbps de capacidad. Alta frecuencia = más ancho de banda pero requiere sitios de uplink con margen de lluvia de hasta 10 dB.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Síntesis de los hallazgos del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a) DEPENDENCIA FRECUENCIAL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atenuación atmosférica depende críticamente de la frecuencia. Banda C (4 GHz): degradación &lt;2% en las peores condiciones. Banda Ka (30 GHz): &gt;70 dB de atenuación en tormenta → interrupción total.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39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b) VALIDACIÓN EXPERIMENTAL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Los resultados coinciden con Oros (2010) para banda C y con Kalaivaanan et al. (2020) para banda Ka. La simulación reproduce fielmente los modelos ITU-R P.676, P.838 y P.840.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c) INMUNIDAD DE BANDA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banda L (1.575 GHz, GPS) es virtualmente inmune a condiciones atmosféricas. Atenuación &lt;0.05 dB en todos los escenarios. Esto explica por qué los sistemas GNSS operan en esta banda.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59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d) ROBUSTEZ DE BANDA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0059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banda C mantiene margen positivo (&gt;20 dB) en todas las condiciones climáticas. Es la banda preferida para servicios críticos en regiones con alta pluviosidad.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32120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32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e) DISEÑO DE LA SIMULACIÓN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10 configuraciones preestablecidas cubren órbitas y bandas relevantes. Presets con valores reales validados. 95 tests automatizados confirman la consistencia del sistema.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Extensiones y mejoras propuestas para la simulación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0116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E8"/>
                </a:solidFill>
                <a:latin typeface="Calibri"/>
              </a:defRPr>
            </a:pPr>
            <a:r>
              <a:t>MODELOS DE ATENUACIÓN</a:t>
            </a:r>
            <a:br/>
            <a:r>
              <a:t>MÁS DETALLADOS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Incorporar capa fundente (melting layer) y centelleos troposféricos para completar los 6 modelos de Oros (2010).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554480"/>
            <a:ext cx="20116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BANDAS SUPERIORES</a:t>
            </a:r>
            <a:br/>
            <a:r>
              <a:t>(V, W, mmWave)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Extender la simulación a frecuencias &gt;40 GHz para aplicaciones 5G/6G satelitales y enlaces ópticos.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554480"/>
            <a:ext cx="20116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MÚLTIPLES ESTACIONES</a:t>
            </a:r>
            <a:br/>
            <a:r>
              <a:t>TERRENAS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Añadir soporte para handover entre gateways y diversidad de sitios como estrategia de mitigación de lluvia.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554480"/>
            <a:ext cx="201168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100"/>
                </a:solidFill>
                <a:latin typeface="Calibri"/>
              </a:defRPr>
            </a:pPr>
            <a:r>
              <a:t>MÁS MODELOS DE</a:t>
            </a:r>
            <a:br/>
            <a:r>
              <a:t>PREDICCIÓN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Implementar ITU-R modificado y DAH para comparación con el modelo estándar en escenarios tropicales.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1554480"/>
            <a:ext cx="2011680" cy="457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4D"/>
                </a:solidFill>
                <a:latin typeface="Calibri"/>
              </a:defRPr>
            </a:pPr>
            <a:r>
              <a:t>INTERFERENCIA</a:t>
            </a:r>
            <a:br/>
            <a:r>
              <a:t>INTER-SATELITAL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Modelar interferencia entre satélites de una misma constelación (relevante para Starlink/OneWeb).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100"/>
                </a:solidFill>
                <a:latin typeface="Calibri"/>
              </a:defRPr>
            </a:pPr>
            <a:r>
              <a:t>LÍNEAS DE INVESTIGACIÓN ABIERTAS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Calibración de modelos ITU-R con datos meteorológicos locales de Argentina (SMN).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Estudio comparativo del impacto atmosférico en constelaciones LEO vs satélites GEO.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Integración con herramientas profesionales como STK (Systems Tool Kit) de Ansys.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Extensión a enlaces inter-satelitales (ISL) con láser para comunicaciones ópticas en espacio libre.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BIBLIOGRAFÍA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Referencias académicas y técnicas utilizadas en el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Oros Molina, R. N. (2010). Estudio de los factores atmosféricos que influyen en la degradación de calidad de un enlace satelital. ACTA NOVA, 4(4), 553-567.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Kalaivaanan, P. M. et al. (2020). Evaluation of ka-band rain attenuation for satellite communication in tropical regions. IEEE Access, 8, 123776-123787.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Ippolito, L. J. (1989). Propagation Effects Handbook for Satellite Systems Design (4th ed.). NASA Reference Publication 1082.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P.676-13 (2022). Attenuation by atmospheric gases and related effects. ITU, Geneva.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P.838-3 (2005). Specific attenuation model for rain for use in prediction methods. ITU, Geneva.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P.840-9 (2023). Attenuation due to clouds and fog. ITU, Geneva.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P.618-8 (2003). Propagation data and prediction methods required for the design of Earth-space telecommunication systems. ITU, Geneva.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Ukommi, U. et al. (2023). Evaluation of rainfall rates and rain-induced signal attenuation in South-South Nigeria. Nigerian Journal of Technology, 42(1), 89-96.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Alozie, E. et al. (2022). A review on rain signal attenuation modeling, analysis and validation techniques. Sustainability, 14(6), 3487.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54880" y="1097280"/>
            <a:ext cx="2743200" cy="2743200"/>
          </a:xfrm>
          <a:prstGeom prst="ellipse">
            <a:avLst/>
          </a:prstGeom>
          <a:solidFill>
            <a:srgbClr val="00A8E8">
              <a:lumMod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¡MUCHAS 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 Light"/>
              </a:defRPr>
            </a:pPr>
            <a:r>
              <a:t>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B0C4DE"/>
                </a:solidFill>
                <a:latin typeface="Calibri"/>
              </a:defRPr>
            </a:pPr>
            <a:r>
              <a:t>Trabajo Final — Información y Comunicaciones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07080"/>
                </a:solidFill>
                <a:latin typeface="Calibri"/>
              </a:defRPr>
            </a:pPr>
            <a:r>
              <a:t>Ingeniería Informática — Universidad Nacional Arturo Jauretche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07080"/>
                </a:solidFill>
                <a:latin typeface="Calibri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BANDAS DE FRECUENCIA Y TIPOS DE ÓRBITA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Fundamentos para el diseño de enlaces satelitales — Información y 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BANDAS DE FRECUENCIA (IEEE)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6217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51560"/>
                <a:gridCol w="292608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Banda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Rango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Aplicaciones típicas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Sens. atmosférica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UHF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0.3 – 1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TV, radio, telemetría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Muy baja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 – 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GPS, GNSS, telefonía sat.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Casi inmune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 – 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Radar, comunicación móvil sat.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Muy baja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 – 8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Broadcast TV, VSAT, Intelsat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Baja (&lt;2% degrad.)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8 – 12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Observación terrestre, radar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Moderada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 – 18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DBS, VSAT, Starlink DL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Vulnerable a lluvia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18 – 27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Enlaces de feeder, radar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Alta sensibilidad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27 – 40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HTS, ViaSat, sat. alta capacidad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Muy vulnerable (&gt;70 dB)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40 – 75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5G/6G sat., mmWave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Extrema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TIPOS DE ÓRBITA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600200"/>
            <a:ext cx="45720" cy="9601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600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8E8"/>
                </a:solidFill>
                <a:latin typeface="Calibri"/>
              </a:defRPr>
            </a:pPr>
            <a:r>
              <a:t>LEO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Calibri"/>
              </a:defRPr>
            </a:pPr>
            <a:r>
              <a:t>Low Earth Orbit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562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080"/>
                </a:solidFill>
                <a:latin typeface="Calibri"/>
              </a:defRPr>
            </a:pPr>
            <a:r>
              <a:t>200 – 2.000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0756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Menor latencia (~5-15 ms por salto).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Menor potencia necesaria (cercanía).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Se necesitan constelaciones (cientos/miles).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Ej: Starlink, OneWeb, ISS, observación terrestre.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651760"/>
            <a:ext cx="45720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MEO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Medium Earth Orbit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9077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080"/>
                </a:solidFill>
                <a:latin typeface="Calibri"/>
              </a:defRPr>
            </a:pPr>
            <a:r>
              <a:t>2.000 – 35.786 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12724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Latencia media (~50-100 ms).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Cobertura con 8-24 satélites.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Ideal para navegación global.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Ej: GPS (20.200 km), GLONASS, Galileo.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3703320"/>
            <a:ext cx="45720" cy="9601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00"/>
                </a:solidFill>
                <a:latin typeface="Calibri"/>
              </a:defRPr>
            </a:pPr>
            <a:r>
              <a:t>GEO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Calibri"/>
              </a:defRPr>
            </a:pPr>
            <a:r>
              <a:t>Geostationary Orbit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9593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7080"/>
                </a:solidFill>
                <a:latin typeface="Calibri"/>
              </a:defRPr>
            </a:pPr>
            <a:r>
              <a:t>35.786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1788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Satélite fijo respecto a la Tierra.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Cobertura de ~1/3 del planeta con 1 satélite.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Alta latencia (~250 ms por salto).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B0C4DE"/>
                </a:solidFill>
                <a:latin typeface="Calibri"/>
              </a:defRPr>
            </a:pPr>
            <a:r>
              <a:t>• Ej: Intelsat, SES, BRASILSAT B3, ViaSat-3.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100"/>
                </a:solidFill>
                <a:latin typeface="Calibri"/>
              </a:defRPr>
            </a:pPr>
            <a:r>
              <a:t>RELAVE FRECUENCIA-ÓRBITA: A mayor frecuencia, mayor ancho de banda disponible, pero mayor atenuación atmosférica. A mayor altitud orbital, mayor cobertura pero mayor latencia y pérdida por espacio libre (FSPL).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3525</Words>
  <Application>Microsoft Office PowerPoint</Application>
  <PresentationFormat>Panorámica</PresentationFormat>
  <Paragraphs>392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gianluca vespe</dc:creator>
  <cp:keywords/>
  <dc:description>generated using python-pptx</dc:description>
  <cp:lastModifiedBy>gianluca vespe</cp:lastModifiedBy>
  <cp:revision>2</cp:revision>
  <dcterms:created xsi:type="dcterms:W3CDTF">2013-01-27T09:14:16Z</dcterms:created>
  <dcterms:modified xsi:type="dcterms:W3CDTF">2026-06-27T22:30:21Z</dcterms:modified>
  <cp:category/>
</cp:coreProperties>
</file>